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0728655" cy="4663440"/>
          </a:xfrm>
          <a:prstGeom prst="rect">
            <a:avLst/>
          </a:prstGeom>
          <a:solidFill>
            <a:srgbClr val="18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563EB"/>
                </a:solidFill>
              </a:defRPr>
            </a:pPr>
            <a:r>
              <a:t>SPRINT SHOWCASE</a:t>
            </a:r>
          </a:p>
          <a:p>
            <a:pPr>
              <a:spcAft>
                <a:spcPts val="1200"/>
              </a:spcAft>
              <a:defRPr sz="3000" b="1">
                <a:solidFill>
                  <a:srgbClr val="FFFFFF"/>
                </a:solidFill>
              </a:defRPr>
            </a:pPr>
            <a:r>
              <a:t>Autonomous Driving Video Annotation &amp; Search</a:t>
            </a:r>
          </a:p>
          <a:p>
            <a:pPr>
              <a:spcAft>
                <a:spcPts val="2000"/>
              </a:spcAft>
              <a:defRPr sz="1500">
                <a:solidFill>
                  <a:srgbClr val="CBD5E1"/>
                </a:solidFill>
              </a:defRPr>
            </a:pPr>
            <a:r>
              <a:t>Ground Truth Creation, AI Model Testing (Gemini vs. Qwen), and Smart Scenario Retrieval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Presenter: [Your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SPRINT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8253F"/>
                </a:solidFill>
              </a:defRPr>
            </a:pPr>
            <a:r>
              <a:t>What We Did in This Sprint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834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18253F"/>
                </a:solidFill>
              </a:defRPr>
            </a:pPr>
            <a:r>
              <a:t>1. Benchmark &amp; Testing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  Created Manual Ground Truth: Carefully annotated 200 real driving videos across 4 different datasets.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  Tested Two Leading AI Models: Ran Google Gemini and Qwen to automatically annotate the same videos.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  Generated Comparison Metrics: Evaluated how closely each AI model matched our manual ground truth.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645920"/>
            <a:ext cx="2834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18253F"/>
                </a:solidFill>
              </a:defRPr>
            </a:pPr>
            <a:r>
              <a:t>2. New Search Approach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  The Problem: Searching videos using only words/text often returns irrelevant clips or misses key actions.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  Our Hybrid Solution: Combined normal text search with structured driving filters (weather, road type, maneuvers, actors).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  Result: Instant Top-5 search results with clear match reasons.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645920"/>
            <a:ext cx="2834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18253F"/>
                </a:solidFill>
              </a:defRPr>
            </a:pPr>
            <a:r>
              <a:t>3. Scale &amp; Delivery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  Scaled Annotation: Successfully generated complete annotations for all 1,000 NuScenes videos using Gemini.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  100% Quality Validation: Every single generated file passed strict schema validation with zero errors.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  Ready for Next Steps: Preparing to annotate the remaining datasets to reach our full 2,100 video goal.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STEP 1: GROUND TRUTH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8253F"/>
                </a:solidFill>
              </a:defRPr>
            </a:pPr>
            <a:r>
              <a:t>Task 1: Creating the Manual Ground Truth Baseline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18253F"/>
                </a:solidFill>
              </a:defRPr>
            </a:pPr>
            <a:r>
              <a:t>Why Manual Ground Truth Was Needed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  To measure whether an AI model is accurate, we first need reliable, verified data to compare against.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  I manually reviewed and annotated 200 driving videos across 4 diverse datasets: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</a:defRPr>
            </a:pPr>
            <a:r>
              <a:t>     •   Dashcam (50 videos): Indian city traffic, sudden turns, gates, two-wheelers.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</a:defRPr>
            </a:pPr>
            <a:r>
              <a:t>     •   KITTI (40 videos): European streets, cyclists, marked crosswalks.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</a:defRPr>
            </a:pPr>
            <a:r>
              <a:t>     •   IDD (55 videos): Indian Driving Dataset with dense traffic, rickshaws, pedestrians.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</a:defRPr>
            </a:pPr>
            <a:r>
              <a:t>     •   NuScenes (55 videos): Multi-lane urban roads, construction zones, trucks.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18253F"/>
                </a:solidFill>
              </a:defRPr>
            </a:pPr>
            <a:r>
              <a:t>What Each Manual Annotation Contains</a:t>
            </a:r>
          </a:p>
          <a:p>
            <a:pPr>
              <a:spcAft>
                <a:spcPts val="200"/>
              </a:spcAft>
              <a:defRPr sz="1100" b="1">
                <a:solidFill>
                  <a:srgbClr val="18253F"/>
                </a:solidFill>
              </a:defRPr>
            </a:pPr>
            <a:r>
              <a:t>Road &amp; Environment: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</a:defRPr>
            </a:pPr>
            <a:r>
              <a:t>     •   Road type (urban street, highway, rural road).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</a:defRPr>
            </a:pPr>
            <a:r>
              <a:t>     •   Weather condition (clear, rain, overcast) and lighting (day, night).</a:t>
            </a:r>
          </a:p>
          <a:p>
            <a:pPr>
              <a:spcAft>
                <a:spcPts val="200"/>
              </a:spcAft>
              <a:defRPr sz="400"/>
            </a:pPr>
          </a:p>
          <a:p>
            <a:pPr>
              <a:spcAft>
                <a:spcPts val="200"/>
              </a:spcAft>
              <a:defRPr sz="1100" b="1">
                <a:solidFill>
                  <a:srgbClr val="18253F"/>
                </a:solidFill>
              </a:defRPr>
            </a:pPr>
            <a:r>
              <a:t>Driving Scenario &amp; Action: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</a:defRPr>
            </a:pPr>
            <a:r>
              <a:t>     •   Plain-English summary of what happened (e.g. 'Car turns left at intersection').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</a:defRPr>
            </a:pPr>
            <a:r>
              <a:t>     •   Ego car maneuver (following, turning, stopping, overtaking).</a:t>
            </a:r>
          </a:p>
          <a:p>
            <a:pPr>
              <a:spcAft>
                <a:spcPts val="200"/>
              </a:spcAft>
              <a:defRPr sz="400"/>
            </a:pPr>
          </a:p>
          <a:p>
            <a:pPr>
              <a:spcAft>
                <a:spcPts val="200"/>
              </a:spcAft>
              <a:defRPr sz="1100" b="1">
                <a:solidFill>
                  <a:srgbClr val="18253F"/>
                </a:solidFill>
              </a:defRPr>
            </a:pPr>
            <a:r>
              <a:t>Surrounding Road Users (Actors):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</a:defRPr>
            </a:pPr>
            <a:r>
              <a:t>     •   Other vehicles and people present (cars, pedestrians, bikes, trucks, auto-rickshaws) and their positions.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STEP 2: AUTOMATED AI ANNOTATION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8253F"/>
                </a:solidFill>
              </a:defRPr>
            </a:pPr>
            <a:r>
              <a:t>Task 2: Automatic Annotation by AI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18253F"/>
                </a:solidFill>
              </a:defRPr>
            </a:pPr>
            <a:r>
              <a:t>Google Gemini Flash-Lite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  What it is: Google's multimodal cloud AI model.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  How it works: We upload the full video clip directly to Gemini via API.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  What it sees: It watches the entire video smoothly from start to finish.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  Output: Outputs a structured JSON file matching our exact schema.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  Strengths: Very strong at understanding context, noticing small details (like pedestrians and rickshaws), and recognizing complex turns.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18253F"/>
                </a:solidFill>
              </a:defRPr>
            </a:pPr>
            <a:r>
              <a:t>Qwen2.5-VL (Local AI Model)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  What it is: An open-source vision-language model.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  How it works: Runs locally on our own GPU server (NVIDIA RTX 6000 Ada).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  How it sees: Extracts 8 sampled picture frames from each video.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  Engineering Optimization: Configured memory settings so it runs 100% inside GPU memory, reducing processing time to just 4 seconds per video.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  Strengths: Fast and very accurate at spotting cars ahead in the same lane.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STEP 3: ACCURACY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8253F"/>
                </a:solidFill>
              </a:defRPr>
            </a:pPr>
            <a:r>
              <a:t>Task 3: Comparing AI Models Against Manual Ground Truth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2377440"/>
                <a:gridCol w="2377440"/>
                <a:gridCol w="2468880"/>
              </a:tblGrid>
              <a:tr h="418011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Measurement</a:t>
                      </a:r>
                    </a:p>
                  </a:txBody>
                  <a:tcPr>
                    <a:solidFill>
                      <a:srgbClr val="1825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Gemini Flash-Lite</a:t>
                      </a:r>
                    </a:p>
                  </a:txBody>
                  <a:tcPr>
                    <a:solidFill>
                      <a:srgbClr val="1825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Qwen2.5-VL</a:t>
                      </a:r>
                    </a:p>
                  </a:txBody>
                  <a:tcPr>
                    <a:solidFill>
                      <a:srgbClr val="1825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Comparison</a:t>
                      </a:r>
                    </a:p>
                  </a:txBody>
                  <a:tcPr>
                    <a:solidFill>
                      <a:srgbClr val="18253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Overall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69.4%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61.9%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Gemini (+7.5% higher)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Overall F1 Score (Quality)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Gemini was more balanced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Finding Pedestrians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78.4%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33.7%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Gemini found far more people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Finding Auto-Rickshaws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77.1%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Gemini easily detected rickshaws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Finding Bicycles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71.0%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Gemini was much better on bikes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Finding Cars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91.8%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94.7%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Both models were very strong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480560"/>
            <a:ext cx="10728655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663440"/>
            <a:ext cx="102714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18253F"/>
                </a:solidFill>
              </a:defRPr>
            </a:pPr>
            <a:r>
              <a:t>What We Learned from the Comparison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  Gemini is much better at complex real-world situations: It accurately identified pedestrians, rickshaws, cyclists, and varied driving actions like turns and stops.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  Qwen is good for simple driving: It was very reliable at detecting lead cars, but almost always assumed the car was simply 'following traffic' and missed rare road actors.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STEP 4: SMART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8253F"/>
                </a:solidFill>
              </a:defRPr>
            </a:pPr>
            <a:r>
              <a:t>Task 4: New Approach - Smart Search Using Text + Structured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18253F"/>
                </a:solidFill>
              </a:defRPr>
            </a:pPr>
            <a:r>
              <a:t>Why Plain Text Search Fails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  If an engineer wants to find: 'A car turning left at a signal in heavy rain':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</a:defRPr>
            </a:pPr>
            <a:r>
              <a:t>     •   Searching with words alone often misses relevant videos.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</a:defRPr>
            </a:pPr>
            <a:r>
              <a:t>     •   Traditional search cannot check exact driving filters (like 'must be 2 lanes' or 'traffic light must be red').</a:t>
            </a:r>
          </a:p>
          <a:p>
            <a:pPr>
              <a:spcAft>
                <a:spcPts val="200"/>
              </a:spcAft>
              <a:defRPr sz="400"/>
            </a:pP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  Our Hybrid Solution: We score videos on TWO things at once: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</a:defRPr>
            </a:pPr>
            <a:r>
              <a:t>     1. Text Match: Does the scene description match what was typed?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</a:defRPr>
            </a:pPr>
            <a:r>
              <a:t>     2. Structured Match: Do the driving facts match (weather, road, car actions, actors)?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18253F"/>
                </a:solidFill>
              </a:defRPr>
            </a:pPr>
            <a:r>
              <a:t>How the Hybrid Search Works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  Combined Score = Text Score + Structured Filters Score</a:t>
            </a:r>
          </a:p>
          <a:p>
            <a:pPr>
              <a:spcAft>
                <a:spcPts val="200"/>
              </a:spcAft>
              <a:defRPr sz="400"/>
            </a:pPr>
          </a:p>
          <a:p>
            <a:pPr>
              <a:spcAft>
                <a:spcPts val="200"/>
              </a:spcAft>
              <a:defRPr sz="1100" b="1">
                <a:solidFill>
                  <a:srgbClr val="18253F"/>
                </a:solidFill>
              </a:defRPr>
            </a:pPr>
            <a:r>
              <a:t>Filters Checked Automatically: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</a:defRPr>
            </a:pPr>
            <a:r>
              <a:t>     •   Road Network: Urban, highway, intersection, traffic lights (red/green).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</a:defRPr>
            </a:pPr>
            <a:r>
              <a:t>     •   Weather: Rain, clear, overcast, day or night.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</a:defRPr>
            </a:pPr>
            <a:r>
              <a:t>     •   Car Action: Turning left/right, following, stopping, overtaking.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</a:defRPr>
            </a:pPr>
            <a:r>
              <a:t>     •   Surrounding Actors: Pedestrians, trucks, bikes, auto-rickshaws.</a:t>
            </a:r>
          </a:p>
          <a:p>
            <a:pPr>
              <a:spcAft>
                <a:spcPts val="200"/>
              </a:spcAft>
              <a:defRPr sz="400"/>
            </a:pP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  Result: Returns the Top 5 best matching videos in under 50 milliseconds, with green checkmarks showing exactly why each video matched.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STEP 5: CURRENT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8253F"/>
                </a:solidFill>
              </a:defRPr>
            </a:pPr>
            <a:r>
              <a:t>Task 5: Current Progress – 1,000 NuScenes Videos Completed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834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18253F"/>
                </a:solidFill>
              </a:defRPr>
            </a:pPr>
            <a:r>
              <a:t>1,000 Videos Processed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  Scaled up annotation using Gemini Flash-Lite.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  Successfully processed all 1,000 NuScenes video clips.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  Handled cloud rate limits smoothly over automated batches.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  Managed disk storage carefully so the machine never ran out of space.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645920"/>
            <a:ext cx="2834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18253F"/>
                </a:solidFill>
              </a:defRPr>
            </a:pPr>
            <a:r>
              <a:t>100% Quality Checked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  All 1,000 JSON files were automatically tested against our formal schema.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  Zero Schema Errors (1,000 / 1,000 passed).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  Each file contains complete road, weather, maneuver, and actor information.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  Ready for engineering search and downstream autonomous driving testing.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645920"/>
            <a:ext cx="2834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18253F"/>
                </a:solidFill>
              </a:defRPr>
            </a:pPr>
            <a:r>
              <a:t>Single Search Catalog Ready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  Compiled all 1,000 video annotations into one unified catalog (dataset_catalog.json).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  File size is compact (only ~2 MB).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  Tested search live: Easily found specific rainy turns and red light stops in milliseconds.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8253F"/>
                </a:solidFill>
              </a:defRPr>
            </a:pPr>
            <a:r>
              <a:t>What We Are Doing Next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834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18253F"/>
                </a:solidFill>
              </a:defRPr>
            </a:pPr>
            <a:r>
              <a:t>1. Complete the Full Dataset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  We have 1,000 videos done.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  Next: Annotate the remaining datasets (IDD, Dashcam, KITTI) to reach the complete goal of ~2,100 videos.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  Process in clean batches to keep local disk space free.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645920"/>
            <a:ext cx="2834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18253F"/>
                </a:solidFill>
              </a:defRPr>
            </a:pPr>
            <a:r>
              <a:t>2. Build an Easy Search Web Page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  Create a clean visual search website.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  Allow users to type what they want (e.g. 'car yielding to pedestrian') and click filter checkboxes (e.g. 'rain', 'night').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  Show the matching video clips directly on screen.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645920"/>
            <a:ext cx="2834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18253F"/>
                </a:solidFill>
              </a:defRPr>
            </a:pPr>
            <a:r>
              <a:t>3. Use for Safety &amp; Edge-Case Testing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  Use our smart search engine to pull rare, risky driving events (near-misses, sudden stops, jaywalkers).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  Use these extracted clips to test and validate autonomous driving software.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